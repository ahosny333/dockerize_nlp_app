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4630400" cy="8229600"/>
  <p:notesSz cx="8229600" cy="14630400"/>
  <p:embeddedFontLst>
    <p:embeddedFont>
      <p:font typeface="Comfortaa"/>
      <p:regular r:id="rId23"/>
    </p:embeddedFont>
    <p:embeddedFont>
      <p:font typeface="Comfortaa"/>
      <p:regular r:id="rId24"/>
    </p:embeddedFont>
    <p:embeddedFont>
      <p:font typeface="Raleway Medium"/>
      <p:regular r:id="rId25"/>
    </p:embeddedFont>
    <p:embeddedFont>
      <p:font typeface="Raleway Medium"/>
      <p:regular r:id="rId26"/>
    </p:embeddedFont>
    <p:embeddedFont>
      <p:font typeface="Raleway Medium"/>
      <p:regular r:id="rId27"/>
    </p:embeddedFont>
    <p:embeddedFont>
      <p:font typeface="Raleway Medium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956316"/>
            <a:ext cx="741592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Simplifying and Dockerizing an NLP Application with DevOps tools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5069800"/>
            <a:ext cx="74159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DEPI DevOps Graduation Project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4037" y="5859661"/>
            <a:ext cx="394930" cy="394930"/>
          </a:xfrm>
          <a:prstGeom prst="roundRect">
            <a:avLst>
              <a:gd name="adj" fmla="val 23151155"/>
            </a:avLst>
          </a:prstGeom>
          <a:solidFill>
            <a:srgbClr val="7C9FEF"/>
          </a:solidFill>
          <a:ln w="7620">
            <a:solidFill>
              <a:srgbClr val="4D4D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92267" y="6008370"/>
            <a:ext cx="138351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4D4D51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ah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382316" y="5841206"/>
            <a:ext cx="2414349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by ahmed hosny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889040"/>
            <a:ext cx="607623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Application Overview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2222778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46464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46" y="2294692"/>
            <a:ext cx="329089" cy="411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6280" y="22227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Web Application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1666280" y="2713792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Flask app with login , signup and home pages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864037" y="3633311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46464A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46" y="3705225"/>
            <a:ext cx="329089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6280" y="363331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Data Storage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666280" y="4124325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PostgreSQL for user management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864037" y="5043845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46464A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46" y="5115758"/>
            <a:ext cx="329089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66280" y="504384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URL Processing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1666280" y="5534858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Input for article sentiment analysis</a:t>
            </a:r>
            <a:endParaRPr lang="en-US" sz="1900" dirty="0"/>
          </a:p>
        </p:txBody>
      </p:sp>
      <p:sp>
        <p:nvSpPr>
          <p:cNvPr id="16" name="Shape 10"/>
          <p:cNvSpPr/>
          <p:nvPr/>
        </p:nvSpPr>
        <p:spPr>
          <a:xfrm>
            <a:off x="864037" y="6454378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46464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146" y="6526292"/>
            <a:ext cx="329089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66280" y="645437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AI Integration</a:t>
            </a:r>
            <a:endParaRPr lang="en-US" sz="2150" dirty="0"/>
          </a:p>
        </p:txBody>
      </p:sp>
      <p:sp>
        <p:nvSpPr>
          <p:cNvPr id="19" name="Text 12"/>
          <p:cNvSpPr/>
          <p:nvPr/>
        </p:nvSpPr>
        <p:spPr>
          <a:xfrm>
            <a:off x="1666280" y="6945392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Calls Hugging Face API for processing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82397"/>
            <a:ext cx="558141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APP Flow and Demo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261949"/>
            <a:ext cx="4053840" cy="2505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50759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Sign Up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864037" y="5567005"/>
            <a:ext cx="4053840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New users create accounts with email and password. Credentials are securely stored in PostgreSQL database.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161" y="2261949"/>
            <a:ext cx="4053959" cy="2505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88161" y="50759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Login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288161" y="5567005"/>
            <a:ext cx="4053959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Returning users authenticate through secure login. Session management ensures protected access to app features.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404" y="2261949"/>
            <a:ext cx="4053840" cy="2505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2404" y="507599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Home Page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712404" y="5567005"/>
            <a:ext cx="4053840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Users paste article URLs for instant sentiment analysis. Hugging Face API processes text and returns comprehensive results.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05752"/>
            <a:ext cx="703802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Application Architecture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0865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Flask Container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09836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Hosts web application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57973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Manages login/signup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506110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Handles URL submission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5542478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Processes sentiment analysis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3508653"/>
            <a:ext cx="322849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PostgreSQL Container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7623929" y="409836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Stores user data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23929" y="457973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Manages credentials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506110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Ensures data persistence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60239"/>
            <a:ext cx="129023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Enhancing Deployment with CI/CD and Containerization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825591"/>
            <a:ext cx="1234440" cy="14812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761" y="30724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Implement CI/CD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2468761" y="3563422"/>
            <a:ext cx="112976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Automate building , testing and deployment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37" y="4306848"/>
            <a:ext cx="1234440" cy="14812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68761" y="4553664"/>
            <a:ext cx="3050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Use Containerization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2468761" y="5044678"/>
            <a:ext cx="112976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Ensure consistency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5788104"/>
            <a:ext cx="1234440" cy="14812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68761" y="6034921"/>
            <a:ext cx="293012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Improve Deployment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2468761" y="6525935"/>
            <a:ext cx="112976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Enhance scalability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44172"/>
            <a:ext cx="668738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Tools and Technologies</a:t>
            </a:r>
            <a:endParaRPr lang="en-US" sz="4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6520" y="3281958"/>
            <a:ext cx="1234440" cy="987504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66" y="3281958"/>
            <a:ext cx="1234440" cy="987504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212" y="3281958"/>
            <a:ext cx="1234440" cy="987504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2057" y="3281958"/>
            <a:ext cx="1234440" cy="987504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03" y="3281958"/>
            <a:ext cx="1234440" cy="987504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5748" y="3281958"/>
            <a:ext cx="1234440" cy="987504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7594" y="3281958"/>
            <a:ext cx="1234440" cy="987504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9440" y="3281958"/>
            <a:ext cx="1234440" cy="987504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6649" y="4466868"/>
            <a:ext cx="1576983" cy="98750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864037" y="5890260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Powerful tools integrated for seamless development, testing, and deployment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089" y="561975"/>
            <a:ext cx="5713452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CI/CD Pipeline Overview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89" y="1538168"/>
            <a:ext cx="1021556" cy="12258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3113" y="1742480"/>
            <a:ext cx="2277308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Environment Setup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043113" y="2148721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Configure variables and credentials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89" y="2764036"/>
            <a:ext cx="1021556" cy="12258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43113" y="2968347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Build &amp; Dockerize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2043113" y="3374588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Create Flask app container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9" y="3989903"/>
            <a:ext cx="1021556" cy="12258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43113" y="4194215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Run Tests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2043113" y="4600456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Pytest in Docker Compose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9" y="5215771"/>
            <a:ext cx="1021556" cy="12258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43113" y="5420082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Push Image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2043113" y="5826323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Upload to Docker Hub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89" y="6441638"/>
            <a:ext cx="1021556" cy="12258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43113" y="6645950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Deploy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2043113" y="7052191"/>
            <a:ext cx="11872198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Local and AWS deployment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364" y="494467"/>
            <a:ext cx="6002893" cy="499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CI/CD Pipeline: Stage Details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303770" y="1353741"/>
            <a:ext cx="22860" cy="6384250"/>
          </a:xfrm>
          <a:prstGeom prst="roundRect">
            <a:avLst>
              <a:gd name="adj" fmla="val 1180096"/>
            </a:avLst>
          </a:prstGeom>
          <a:solidFill>
            <a:srgbClr val="5F5F63"/>
          </a:solidFill>
          <a:ln/>
        </p:spPr>
      </p:sp>
      <p:sp>
        <p:nvSpPr>
          <p:cNvPr id="4" name="Shape 2"/>
          <p:cNvSpPr/>
          <p:nvPr/>
        </p:nvSpPr>
        <p:spPr>
          <a:xfrm>
            <a:off x="6596301" y="1746885"/>
            <a:ext cx="539472" cy="22860"/>
          </a:xfrm>
          <a:prstGeom prst="roundRect">
            <a:avLst>
              <a:gd name="adj" fmla="val 1180096"/>
            </a:avLst>
          </a:prstGeom>
          <a:solidFill>
            <a:srgbClr val="5F5F63"/>
          </a:solidFill>
          <a:ln/>
        </p:spPr>
      </p:sp>
      <p:sp>
        <p:nvSpPr>
          <p:cNvPr id="5" name="Shape 3"/>
          <p:cNvSpPr/>
          <p:nvPr/>
        </p:nvSpPr>
        <p:spPr>
          <a:xfrm>
            <a:off x="7112913" y="1556028"/>
            <a:ext cx="404574" cy="404574"/>
          </a:xfrm>
          <a:prstGeom prst="roundRect">
            <a:avLst>
              <a:gd name="adj" fmla="val 66680"/>
            </a:avLst>
          </a:prstGeom>
          <a:solidFill>
            <a:srgbClr val="4646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5304" y="1608475"/>
            <a:ext cx="239792" cy="299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49980" y="1533525"/>
            <a:ext cx="276606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Set Environment Variables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9364" y="1891070"/>
            <a:ext cx="5786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Store API keys and credentials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94627" y="2646045"/>
            <a:ext cx="539472" cy="22860"/>
          </a:xfrm>
          <a:prstGeom prst="roundRect">
            <a:avLst>
              <a:gd name="adj" fmla="val 1180096"/>
            </a:avLst>
          </a:prstGeom>
          <a:solidFill>
            <a:srgbClr val="5F5F63"/>
          </a:solidFill>
          <a:ln/>
        </p:spPr>
      </p:sp>
      <p:sp>
        <p:nvSpPr>
          <p:cNvPr id="10" name="Shape 7"/>
          <p:cNvSpPr/>
          <p:nvPr/>
        </p:nvSpPr>
        <p:spPr>
          <a:xfrm>
            <a:off x="7112913" y="2455188"/>
            <a:ext cx="404574" cy="404574"/>
          </a:xfrm>
          <a:prstGeom prst="roundRect">
            <a:avLst>
              <a:gd name="adj" fmla="val 66680"/>
            </a:avLst>
          </a:prstGeom>
          <a:solidFill>
            <a:srgbClr val="4646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304" y="2507635"/>
            <a:ext cx="239792" cy="299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14360" y="2432685"/>
            <a:ext cx="199822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Build Stage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8214360" y="2790230"/>
            <a:ext cx="5786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Containerize Flask app with Dockerfile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596301" y="3455313"/>
            <a:ext cx="539472" cy="22860"/>
          </a:xfrm>
          <a:prstGeom prst="roundRect">
            <a:avLst>
              <a:gd name="adj" fmla="val 1180096"/>
            </a:avLst>
          </a:prstGeom>
          <a:solidFill>
            <a:srgbClr val="5F5F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112913" y="3264456"/>
            <a:ext cx="404574" cy="404574"/>
          </a:xfrm>
          <a:prstGeom prst="roundRect">
            <a:avLst>
              <a:gd name="adj" fmla="val 66680"/>
            </a:avLst>
          </a:prstGeom>
          <a:solidFill>
            <a:srgbClr val="4646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304" y="3316903"/>
            <a:ext cx="239792" cy="2996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17814" y="3241953"/>
            <a:ext cx="199822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Test Stage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29364" y="3599497"/>
            <a:ext cx="5786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Run containers with pytest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494627" y="4264581"/>
            <a:ext cx="539472" cy="22860"/>
          </a:xfrm>
          <a:prstGeom prst="roundRect">
            <a:avLst>
              <a:gd name="adj" fmla="val 1180096"/>
            </a:avLst>
          </a:prstGeom>
          <a:solidFill>
            <a:srgbClr val="5F5F63"/>
          </a:solidFill>
          <a:ln/>
        </p:spPr>
      </p:sp>
      <p:sp>
        <p:nvSpPr>
          <p:cNvPr id="20" name="Shape 15"/>
          <p:cNvSpPr/>
          <p:nvPr/>
        </p:nvSpPr>
        <p:spPr>
          <a:xfrm>
            <a:off x="7112913" y="4073723"/>
            <a:ext cx="404574" cy="404574"/>
          </a:xfrm>
          <a:prstGeom prst="roundRect">
            <a:avLst>
              <a:gd name="adj" fmla="val 66680"/>
            </a:avLst>
          </a:prstGeom>
          <a:solidFill>
            <a:srgbClr val="4646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304" y="4126170"/>
            <a:ext cx="239792" cy="299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14360" y="4051221"/>
            <a:ext cx="199822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Push Stage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214360" y="4408765"/>
            <a:ext cx="5786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Push image to Docker Hub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596301" y="5073848"/>
            <a:ext cx="539472" cy="22860"/>
          </a:xfrm>
          <a:prstGeom prst="roundRect">
            <a:avLst>
              <a:gd name="adj" fmla="val 1180096"/>
            </a:avLst>
          </a:prstGeom>
          <a:solidFill>
            <a:srgbClr val="5F5F63"/>
          </a:solidFill>
          <a:ln/>
        </p:spPr>
      </p:sp>
      <p:sp>
        <p:nvSpPr>
          <p:cNvPr id="25" name="Shape 19"/>
          <p:cNvSpPr/>
          <p:nvPr/>
        </p:nvSpPr>
        <p:spPr>
          <a:xfrm>
            <a:off x="7112913" y="4882991"/>
            <a:ext cx="404574" cy="404574"/>
          </a:xfrm>
          <a:prstGeom prst="roundRect">
            <a:avLst>
              <a:gd name="adj" fmla="val 66680"/>
            </a:avLst>
          </a:prstGeom>
          <a:solidFill>
            <a:srgbClr val="4646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5304" y="4935438"/>
            <a:ext cx="239792" cy="2996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17814" y="4860488"/>
            <a:ext cx="199822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Local Deployment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629364" y="5218033"/>
            <a:ext cx="5786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Ansible and Kubernetes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494627" y="5883116"/>
            <a:ext cx="539472" cy="22860"/>
          </a:xfrm>
          <a:prstGeom prst="roundRect">
            <a:avLst>
              <a:gd name="adj" fmla="val 1180096"/>
            </a:avLst>
          </a:prstGeom>
          <a:solidFill>
            <a:srgbClr val="5F5F63"/>
          </a:solidFill>
          <a:ln/>
        </p:spPr>
      </p:sp>
      <p:sp>
        <p:nvSpPr>
          <p:cNvPr id="30" name="Shape 23"/>
          <p:cNvSpPr/>
          <p:nvPr/>
        </p:nvSpPr>
        <p:spPr>
          <a:xfrm>
            <a:off x="7112913" y="5692259"/>
            <a:ext cx="404574" cy="404574"/>
          </a:xfrm>
          <a:prstGeom prst="roundRect">
            <a:avLst>
              <a:gd name="adj" fmla="val 66680"/>
            </a:avLst>
          </a:prstGeom>
          <a:solidFill>
            <a:srgbClr val="46464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304" y="5744706"/>
            <a:ext cx="239792" cy="2996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4360" y="5669756"/>
            <a:ext cx="199822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AWS Infrastructure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214360" y="6027301"/>
            <a:ext cx="5786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CloudFormation setup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596301" y="6692384"/>
            <a:ext cx="539472" cy="22860"/>
          </a:xfrm>
          <a:prstGeom prst="roundRect">
            <a:avLst>
              <a:gd name="adj" fmla="val 1180096"/>
            </a:avLst>
          </a:prstGeom>
          <a:solidFill>
            <a:srgbClr val="5F5F63"/>
          </a:solidFill>
          <a:ln/>
        </p:spPr>
      </p:sp>
      <p:sp>
        <p:nvSpPr>
          <p:cNvPr id="35" name="Shape 27"/>
          <p:cNvSpPr/>
          <p:nvPr/>
        </p:nvSpPr>
        <p:spPr>
          <a:xfrm>
            <a:off x="7112913" y="6501527"/>
            <a:ext cx="404574" cy="404574"/>
          </a:xfrm>
          <a:prstGeom prst="roundRect">
            <a:avLst>
              <a:gd name="adj" fmla="val 66680"/>
            </a:avLst>
          </a:prstGeom>
          <a:solidFill>
            <a:srgbClr val="46464A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5304" y="6553974"/>
            <a:ext cx="239792" cy="2996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341376" y="6479024"/>
            <a:ext cx="207466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Remote Deployment</a:t>
            </a:r>
            <a:endParaRPr lang="en-US" sz="1550" dirty="0"/>
          </a:p>
        </p:txBody>
      </p:sp>
      <p:sp>
        <p:nvSpPr>
          <p:cNvPr id="38" name="Text 29"/>
          <p:cNvSpPr/>
          <p:nvPr/>
        </p:nvSpPr>
        <p:spPr>
          <a:xfrm>
            <a:off x="629364" y="6836569"/>
            <a:ext cx="5786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Ansible on EC2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42327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1: Prepare Environment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165158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Load secure environment variables required for the application.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4041577"/>
            <a:ext cx="7415927" cy="80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Use Jenkins credentials to access the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file containing API keys, database credentials, and deployment secrets.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4933236"/>
            <a:ext cx="7415927" cy="80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Copy the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file into the project directory to be used in subsequent stages.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6016228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stage ensures all sensitive configuration is managed securely and is available for building, testing, and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1039773"/>
            <a:ext cx="6150054" cy="61500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3929" y="1327547"/>
            <a:ext cx="61500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2: Build Docker Image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623929" y="2945963"/>
            <a:ext cx="6150054" cy="80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Build the Flask web application into a Docker image using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623929" y="3837623"/>
            <a:ext cx="6150054" cy="80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The image includes all application dependencies defined in the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623929" y="4729282"/>
            <a:ext cx="615005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stage guarantees that the application runs consistently across different environments by packaging it into a container.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3929" y="6136600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Containerizing the app ensures portability, reliability, and ease of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387673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3: Run Automated Tests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12955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Start the PostgreSQL container using Docker Compose.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3610928"/>
            <a:ext cx="7415927" cy="80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Run the Flask app container with overridden command to execute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4502587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Execute unit tests to validate the application functionality before deployment.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4037" y="5379006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Automatically shut down containers after testing.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4037" y="6051709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stage ensures code reliability and catches issues early in the CI/CD pipeline.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1039773"/>
            <a:ext cx="6150054" cy="61500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3929" y="1532692"/>
            <a:ext cx="615005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4: Push Docker Image to Docker Hub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7623929" y="3151108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Log in securely to Docker Hub using Jenkins credentials.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623929" y="4027527"/>
            <a:ext cx="6150054" cy="805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Use the Jenkins build number to tag the Docker image uniquely (e.g.,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, ...).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623929" y="4919186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Push the versioned image to a remote Docker Hub repository.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23929" y="5931456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stage ensures that each deployment uses a properly versioned and traceable container image.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6053" y="984766"/>
            <a:ext cx="7531894" cy="127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5: Local Deployment with Ansible &amp; Kubernetes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06053" y="2609374"/>
            <a:ext cx="7531894" cy="38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Update the </a:t>
            </a:r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file with build version and Docker credentials.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6053" y="3073598"/>
            <a:ext cx="7531894" cy="736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Use Ansible to automate local deployment via Kubernetes on Minikube.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6053" y="3890963"/>
            <a:ext cx="7531894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Tasks include: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6053" y="4339947"/>
            <a:ext cx="7531894" cy="38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Generating deployment files with </a:t>
            </a:r>
            <a:pPr algn="l" lvl="1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envsubst</a:t>
            </a:r>
            <a:pPr algn="l" lvl="1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6053" y="4804172"/>
            <a:ext cx="7531894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Creating Kubernetes secrets from environment variables.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6053" y="5253157"/>
            <a:ext cx="7531894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90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Applying deployments for PostgreSQL and the Flask app.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6053" y="5880616"/>
            <a:ext cx="7531894" cy="736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stage mimics production using local infrastructure, ideal for validation before cloud deployment.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06053" y="6876455"/>
            <a:ext cx="7531894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98" y="1010483"/>
            <a:ext cx="6208514" cy="62085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08808" y="1065252"/>
            <a:ext cx="6208514" cy="1302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6: Build AWS Infrastructure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7608808" y="2602468"/>
            <a:ext cx="6208514" cy="75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Deploy AWS infrastructure using CloudFormation through the Jenkins pipeline.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608808" y="3435072"/>
            <a:ext cx="6208514" cy="75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Use AWS CLI to create and update CloudFormation stacks for network and server resources.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08808" y="4267676"/>
            <a:ext cx="6208514" cy="1125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Provision critical components such as VPC, public network, Internet Gateway, EC2 instances, and security groups.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08808" y="5475565"/>
            <a:ext cx="6208514" cy="75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Tag resources for project identification and reference outputs for later deployment steps.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08808" y="6437114"/>
            <a:ext cx="6208514" cy="750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This stage sets up the scalable and secure cloud environment needed for remote deployment.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319" y="1640919"/>
            <a:ext cx="4947761" cy="49477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4261" y="766524"/>
            <a:ext cx="7635478" cy="1197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Stage 7: Configure EC2 &amp; Remote Deployment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754261" y="2287072"/>
            <a:ext cx="76354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Retrieve Instance IP: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754261" y="2707243"/>
            <a:ext cx="76354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Use AWS CLI to get the public IP of the target EC2 instance.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754261" y="3127415"/>
            <a:ext cx="76354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Generate an Ansible inventory file with the retrieved IP.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54261" y="3547586"/>
            <a:ext cx="76354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Prepare Deployment Package: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54261" y="3967758"/>
            <a:ext cx="7635478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Update the </a:t>
            </a:r>
            <a:pPr algn="l" lvl="1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7D4CC"/>
                </a:solidFill>
                <a:highlight>
                  <a:srgbClr val="4D4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lvl="1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file with necessary parameters.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54261" y="4403169"/>
            <a:ext cx="763547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Archive the project files (including app code, configurations, and dependencies).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54261" y="5168146"/>
            <a:ext cx="76354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Deploy via Ansible: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754261" y="5588318"/>
            <a:ext cx="76354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Execute an Ansible playbook to copy the project to the EC2 instance.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54261" y="6008489"/>
            <a:ext cx="763547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Untar the package, tear down any existing services, and recreate containers using Docker Compose.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54261" y="6773466"/>
            <a:ext cx="7635478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Verify that both the Flask app and PostgreSQL services are running properly.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747593"/>
            <a:ext cx="596931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Conclusion and Q&amp;A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1927027"/>
            <a:ext cx="35228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506766" y="3050143"/>
            <a:ext cx="32101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Simplified Deployment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3541157"/>
            <a:ext cx="3522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Modern tools and techniques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243542" y="1927027"/>
            <a:ext cx="35228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10633353" y="305014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Faster Delivery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243542" y="3541157"/>
            <a:ext cx="3522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Automated software pipeline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96989" y="4800124"/>
            <a:ext cx="3522821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00"/>
              </a:lnSpc>
              <a:buNone/>
            </a:pPr>
            <a:r>
              <a:rPr lang="en-US" sz="6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8686800" y="592324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Reliable Process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8296989" y="6414254"/>
            <a:ext cx="3522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Consistent and repeatable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50437" y="7086957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Now, I would be happy to answer any questions.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2025-04-16T16:08:59Z</dcterms:created>
  <dcterms:modified xsi:type="dcterms:W3CDTF">2025-04-16T16:08:59Z</dcterms:modified>
</cp:coreProperties>
</file>